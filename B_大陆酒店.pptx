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143500" y="2667000"/>
            <a:ext cx="1905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143500" y="4191000"/>
            <a:ext cx="1905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67419" y="2815590"/>
            <a:ext cx="685716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大陆酒店 · 黑金圣殿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46040" y="3583305"/>
            <a:ext cx="46999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黑夜世界的中立圣殿 · 规则经营者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2529" y="4600575"/>
            <a:ext cx="22069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B方案 · 2026立项评审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381000"/>
            <a:ext cx="5715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" y="381000"/>
            <a:ext cx="19050" cy="571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1239500" y="381000"/>
            <a:ext cx="5715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791950" y="381000"/>
            <a:ext cx="19050" cy="571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81000" y="6457950"/>
            <a:ext cx="5715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81000" y="5905500"/>
            <a:ext cx="19050" cy="571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1239500" y="6457950"/>
            <a:ext cx="5715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791950" y="5905500"/>
            <a:ext cx="19050" cy="571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"/>
            <a:ext cx="4876800" cy="68199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4876800" y="38100"/>
            <a:ext cx="19050" cy="68199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2667000"/>
            <a:ext cx="3352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4191000"/>
            <a:ext cx="3352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40611" y="3040380"/>
            <a:ext cx="11955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规则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7400" y="3550920"/>
            <a:ext cx="76200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经营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10033" y="1374458"/>
            <a:ext cx="587673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爷爷留下的不是钱，是规矩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486400" y="1905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334000" y="2476500"/>
            <a:ext cx="76200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39740" y="2434590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酒店内不得开火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0" y="3048000"/>
            <a:ext cx="76200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539740" y="30060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任何危险交易都必须在这里完成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0" y="3619500"/>
            <a:ext cx="76200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39740" y="35775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玩家接手的不是生意，是秩序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4572000"/>
            <a:ext cx="6477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953000" y="4572000"/>
            <a:ext cx="6477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51241" y="48215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"规则经营" 核心概念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24564" y="944880"/>
            <a:ext cx="514287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场景氛围 · 黑暗美学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0" y="1524000"/>
            <a:ext cx="2286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1905000"/>
            <a:ext cx="34290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905000"/>
            <a:ext cx="3429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328928" y="24079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视觉风格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2050" y="3060382"/>
            <a:ext cx="2246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暗黑哥特 × 黑金奢华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4644" y="3648075"/>
            <a:ext cx="2261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深色木纹 · 大理石地面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182" y="4029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金色点缀 · 柔和烛光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905000"/>
            <a:ext cx="34290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381500" y="1905000"/>
            <a:ext cx="3429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329428" y="24079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核心氛围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74968" y="3060382"/>
            <a:ext cx="20420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安全 · 神秘 · 庄严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74682" y="3648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中立领地 · 绝对安全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74682" y="4029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杀手聚集 · 交易圣地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382000" y="1905000"/>
            <a:ext cx="3429000" cy="457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382000" y="1905000"/>
            <a:ext cx="3429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29928" y="24079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参考元素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74278" y="3060382"/>
            <a:ext cx="16444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John Wick风格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62812" y="3648075"/>
            <a:ext cx="1867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Continental Hotel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01150" y="40290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顶级杀手下榻之地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523774" y="405765"/>
            <a:ext cx="51444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同一套规则，放大三次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9525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43000" y="1714500"/>
            <a:ext cx="3048000" cy="171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143000" y="1714500"/>
            <a:ext cx="304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96249" y="20593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小店经营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9800" y="25050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楼内秩序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4940" y="28232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住宿、餐饮、礼宾、健身、泳池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8350" y="3061335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医务间、装备室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572000" y="2095500"/>
            <a:ext cx="3048000" cy="171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572000" y="2095500"/>
            <a:ext cx="304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425250" y="24403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小镇经营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38800" y="28860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街区秩序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0" y="32042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洗衣房、地下诊所、夜宵街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4460" y="34423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第二附楼、后场服务点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2476500"/>
            <a:ext cx="3048000" cy="171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001000" y="2476500"/>
            <a:ext cx="304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54250" y="28213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外层沙盘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48725" y="32670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城市中立网络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8870" y="3585210"/>
            <a:ext cx="20722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中立权、停火权、交���权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6350" y="3823335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城市秩序税入口</a:t>
            </a:r>
          </a:p>
        </p:txBody>
      </p:sp>
      <p:sp>
        <p:nvSpPr>
          <p:cNvPr id="24" name="Polygon 24"/>
          <p:cNvSpPr/>
          <p:nvPr/>
        </p:nvSpPr>
        <p:spPr>
          <a:xfrm>
            <a:off x="419100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25" name="Polygon 25"/>
          <p:cNvSpPr/>
          <p:nvPr/>
        </p:nvSpPr>
        <p:spPr>
          <a:xfrm>
            <a:off x="762000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2667000" y="4762500"/>
            <a:ext cx="68580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2667000" y="4762500"/>
            <a:ext cx="685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267676" y="4917758"/>
            <a:ext cx="3656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三层不是拼出来的，而是长出来的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01570" y="5188268"/>
            <a:ext cx="45888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同一套"规则经营"从楼内扩到街区，再扩到城市网络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118398" y="405765"/>
            <a:ext cx="395520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0-4小时节奏设计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9525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3619500"/>
            <a:ext cx="10668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219200" y="3505200"/>
            <a:ext cx="228600" cy="228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2667000"/>
            <a:ext cx="1524000" cy="8572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667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07174" y="2823210"/>
            <a:ext cx="652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0-15min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2020" y="309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规则事件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0108" y="3315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建立核心冲突</a:t>
            </a:r>
          </a:p>
        </p:txBody>
      </p:sp>
      <p:sp>
        <p:nvSpPr>
          <p:cNvPr id="13" name="Ellipse 13"/>
          <p:cNvSpPr/>
          <p:nvPr/>
        </p:nvSpPr>
        <p:spPr>
          <a:xfrm>
            <a:off x="2933700" y="3505200"/>
            <a:ext cx="228600" cy="228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286000" y="2667000"/>
            <a:ext cx="1524000" cy="8572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2667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673477" y="2823210"/>
            <a:ext cx="7490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15-60min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37936" y="30927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功能区解锁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7931" y="3315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泳池、健身开放</a:t>
            </a:r>
          </a:p>
        </p:txBody>
      </p:sp>
      <p:sp>
        <p:nvSpPr>
          <p:cNvPr id="19" name="Ellipse 19"/>
          <p:cNvSpPr/>
          <p:nvPr/>
        </p:nvSpPr>
        <p:spPr>
          <a:xfrm>
            <a:off x="4838700" y="3505200"/>
            <a:ext cx="228600" cy="228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191000" y="2667000"/>
            <a:ext cx="1524000" cy="8572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191000" y="2667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66882" y="2823210"/>
            <a:ext cx="372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1-2h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42936" y="30927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住客故事线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79608" y="3315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外部委托开门</a:t>
            </a:r>
          </a:p>
        </p:txBody>
      </p:sp>
      <p:sp>
        <p:nvSpPr>
          <p:cNvPr id="25" name="Ellipse 25"/>
          <p:cNvSpPr/>
          <p:nvPr/>
        </p:nvSpPr>
        <p:spPr>
          <a:xfrm>
            <a:off x="6743700" y="3505200"/>
            <a:ext cx="228600" cy="228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096000" y="2667000"/>
            <a:ext cx="1524000" cy="8572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096000" y="2667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49974" y="2823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2-3h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6520" y="309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后场开放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84608" y="3315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附属能力建立</a:t>
            </a:r>
          </a:p>
        </p:txBody>
      </p:sp>
      <p:sp>
        <p:nvSpPr>
          <p:cNvPr id="31" name="Ellipse 31"/>
          <p:cNvSpPr/>
          <p:nvPr/>
        </p:nvSpPr>
        <p:spPr>
          <a:xfrm>
            <a:off x="8648700" y="3505200"/>
            <a:ext cx="228600" cy="228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001000" y="2667000"/>
            <a:ext cx="1524000" cy="85725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001000" y="26670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554974" y="2823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3-4h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51520" y="309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街区接入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89608" y="3315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自然滑入内城</a:t>
            </a:r>
          </a:p>
        </p:txBody>
      </p:sp>
      <p:sp>
        <p:nvSpPr>
          <p:cNvPr id="37" name="Rectangle 37"/>
          <p:cNvSpPr/>
          <p:nvPr/>
        </p:nvSpPr>
        <p:spPr>
          <a:xfrm>
            <a:off x="2667000" y="4572000"/>
            <a:ext cx="6858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667000" y="4572000"/>
            <a:ext cx="685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6973" y="4679632"/>
            <a:ext cx="1598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慢热 ≠ 慢内容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01515" y="49977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每个阶段都在增加一层新的空间责任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91050" y="58712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先真正爱上一栋楼，再愿意接管一条街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562088" y="342900"/>
            <a:ext cx="506782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前15分钟为什么不敢退出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2667000" cy="2476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11820" y="1568768"/>
            <a:ext cx="586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1</a:t>
            </a:r>
          </a:p>
        </p:txBody>
      </p:sp>
      <p:sp>
        <p:nvSpPr>
          <p:cNvPr id="9" name="Rectangle 9"/>
          <p:cNvSpPr/>
          <p:nvPr/>
        </p:nvSpPr>
        <p:spPr>
          <a:xfrm>
            <a:off x="1619250" y="185737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40027" y="2012632"/>
            <a:ext cx="11299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第1位贵客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0149" y="2330768"/>
            <a:ext cx="10497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+ 第1笔收入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0" y="2714625"/>
            <a:ext cx="19050" cy="571500"/>
          </a:xfrm>
          <a:prstGeom prst="rect">
            <a:avLst/>
          </a:prstGeom>
          <a:solidFill>
            <a:srgbClr val="C9A227">
              <a:alpha val="3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84960" y="2934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身份确认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7235" y="3172778"/>
            <a:ext cx="1575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"你继承的不只是房间"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429000" y="1333500"/>
            <a:ext cx="2667000" cy="2476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429000" y="1333500"/>
            <a:ext cx="26670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44675" y="1568768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STEP 2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76750" y="1857375"/>
            <a:ext cx="571500" cy="19050"/>
          </a:xfrm>
          <a:prstGeom prst="rect">
            <a:avLst/>
          </a:prstGeom>
          <a:solidFill>
            <a:srgbClr val="722F37">
              <a:alpha val="5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982450" y="2012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敌对贵客出现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71473" y="2330768"/>
            <a:ext cx="1582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+ 第一次规则事件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762500" y="2714625"/>
            <a:ext cx="19050" cy="571500"/>
          </a:xfrm>
          <a:prstGeom prst="rect">
            <a:avLst/>
          </a:prstGeom>
          <a:solidFill>
            <a:srgbClr val="722F37">
              <a:alpha val="3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365784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必须做选择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51411" y="317277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"规则就是你的工具"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2667000" cy="2476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2175" y="1568768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3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334250" y="185737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966466" y="20126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功能区协同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26140" y="2330768"/>
            <a:ext cx="11877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+ 秩序机器感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0" y="2714625"/>
            <a:ext cx="19050" cy="571500"/>
          </a:xfrm>
          <a:prstGeom prst="rect">
            <a:avLst/>
          </a:prstGeom>
          <a:solidFill>
            <a:srgbClr val="C9A227">
              <a:alpha val="3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223284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系统级反馈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78882" y="317277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"整栋楼都在响应你的调度"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144000" y="1333500"/>
            <a:ext cx="2667000" cy="2476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9144000" y="133350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59675" y="1568768"/>
            <a:ext cx="635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4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191750" y="185737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823966" y="20126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身份感建立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982224" y="233076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+ 退出成本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477500" y="2714625"/>
            <a:ext cx="19050" cy="571500"/>
          </a:xfrm>
          <a:prstGeom prst="rect">
            <a:avLst/>
          </a:prstGeom>
          <a:solidFill>
            <a:srgbClr val="C9A227">
              <a:alpha val="3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157460" y="2934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情感绑定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89735" y="3172778"/>
            <a:ext cx="1575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"你已经不只是店主了"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714500" y="4381500"/>
            <a:ext cx="8763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1714500" y="4381500"/>
            <a:ext cx="8763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127492" y="4504372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不是拖进度，是建立退出成本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91657" y="4902518"/>
            <a:ext cx="3208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每一分钟都在加深对"这栋楼"的感情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067526" y="342900"/>
            <a:ext cx="605694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功能区：黑夜圣殿的服务骨骼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0" y="838200"/>
            <a:ext cx="304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35242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034730" y="14249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住宿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3561" y="1806892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现金流基础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3528" y="2125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客房、套房、长期租住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33875" y="1238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33875" y="1238250"/>
            <a:ext cx="35242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797106" y="14249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餐饮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84520" y="1806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基础消费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92579" y="2125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餐厅、酒吧、宴会厅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0" y="1238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096250" y="1238250"/>
            <a:ext cx="35242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07537" y="1424940"/>
            <a:ext cx="13016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健身+泳池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48311" y="1806892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训练与恢复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54954" y="2125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健身房、泳池、桑拿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762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2762250"/>
            <a:ext cx="352425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896713" y="2948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医务间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4978" y="3330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处理危险后果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3528" y="3649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急救、手术、康复病房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33875" y="2762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33875" y="2762250"/>
            <a:ext cx="352425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59088" y="2948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装备室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84520" y="33308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高端委托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15902" y="3649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武器暂存、装备保养、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22608" y="38395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危险物品保管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96250" y="2762250"/>
            <a:ext cx="3524250" cy="133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096250" y="2762250"/>
            <a:ext cx="35242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21463" y="2948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情报室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49728" y="33308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外部势力接入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78278" y="3649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消息、委托、势力关系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714500" y="4572000"/>
            <a:ext cx="8763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1714500" y="4572000"/>
            <a:ext cx="8763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56855" y="4727258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综合体越完整，题材越成立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05764" y="5045392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危险世界的服务核心，不是普通酒店能比的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57612" y="342900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规则不是文案，是玩法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11049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3888" y="1266825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事件：同夜两位敌对贵客同时入住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19397" y="1584960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这不是点一下"接待完成"，而是亲手处理秩序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286000"/>
            <a:ext cx="17145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2286000"/>
            <a:ext cx="1714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00722" y="25060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7270" y="28070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识别敌对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034" y="31251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情报室预警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5358" y="3363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双方身份确认</a:t>
            </a:r>
          </a:p>
        </p:txBody>
      </p:sp>
      <p:sp>
        <p:nvSpPr>
          <p:cNvPr id="16" name="Polygon 16"/>
          <p:cNvSpPr/>
          <p:nvPr/>
        </p:nvSpPr>
        <p:spPr>
          <a:xfrm>
            <a:off x="23812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667000" y="2286000"/>
            <a:ext cx="17145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667000" y="2286000"/>
            <a:ext cx="1714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277052" y="2506028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8549" y="2807018"/>
            <a:ext cx="931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顶层/侧翼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042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楼层分配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04210" y="33632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物理隔离</a:t>
            </a:r>
          </a:p>
        </p:txBody>
      </p:sp>
      <p:sp>
        <p:nvSpPr>
          <p:cNvPr id="23" name="Polygon 23"/>
          <p:cNvSpPr/>
          <p:nvPr/>
        </p:nvSpPr>
        <p:spPr>
          <a:xfrm>
            <a:off x="44767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762500" y="2286000"/>
            <a:ext cx="17145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762500" y="2286000"/>
            <a:ext cx="1714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372552" y="2506028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8270" y="28070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泳池隔离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997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动线管控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46358" y="3363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临时关闭泳池</a:t>
            </a:r>
          </a:p>
        </p:txBody>
      </p:sp>
      <p:sp>
        <p:nvSpPr>
          <p:cNvPr id="30" name="Polygon 30"/>
          <p:cNvSpPr/>
          <p:nvPr/>
        </p:nvSpPr>
        <p:spPr>
          <a:xfrm>
            <a:off x="65722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858000" y="2286000"/>
            <a:ext cx="17145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858000" y="2286000"/>
            <a:ext cx="17145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68052" y="2506028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STEP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3770" y="28070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装备转存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18534" y="31251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地下装备室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95210" y="33632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武器暂存</a:t>
            </a:r>
          </a:p>
        </p:txBody>
      </p:sp>
      <p:sp>
        <p:nvSpPr>
          <p:cNvPr id="37" name="Polygon 37"/>
          <p:cNvSpPr/>
          <p:nvPr/>
        </p:nvSpPr>
        <p:spPr>
          <a:xfrm>
            <a:off x="86677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953500" y="2286000"/>
            <a:ext cx="171450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953500" y="2286000"/>
            <a:ext cx="17145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563552" y="2506028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STEP 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99270" y="28070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礼宾调度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9071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拖延会面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90710" y="33632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时间缓冲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4191000"/>
            <a:ext cx="533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71500" y="4191000"/>
            <a:ext cx="5334000" cy="28575"/>
          </a:xfrm>
          <a:prstGeom prst="rect">
            <a:avLst/>
          </a:prstGeom>
          <a:solidFill>
            <a:srgbClr val="2D5A3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891659" y="4362450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D5A3D"/>
                </a:solidFill>
                <a:latin typeface="Arial"/>
                <a:ea typeface="Microsoft YaHei"/>
                <a:cs typeface="Arial"/>
              </a:rPr>
              <a:t>成功 =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319314" y="466439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规则声望 + 住客忠诚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611755" y="4934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证明你守得住秩序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4191000"/>
            <a:ext cx="533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4191000"/>
            <a:ext cx="53340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606659" y="4362450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失败 =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35730" y="4664392"/>
            <a:ext cx="2035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功能区关闭 + 口碑下滑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80108" y="4934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整个酒店停摆</a:t>
            </a:r>
          </a:p>
        </p:txBody>
      </p:sp>
      <p:sp>
        <p:nvSpPr>
          <p:cNvPr id="54" name="Rectangle 54"/>
          <p:cNvSpPr/>
          <p:nvPr/>
        </p:nvSpPr>
        <p:spPr>
          <a:xfrm>
            <a:off x="2667000" y="5524500"/>
            <a:ext cx="68580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2667000" y="5524500"/>
            <a:ext cx="685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923751" y="5727382"/>
            <a:ext cx="23444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"不能开枪的那声枪"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57612" y="342900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街区是酒店秩序的外溢</a:t>
            </a:r>
          </a:p>
        </p:txBody>
      </p:sp>
      <p:sp>
        <p:nvSpPr>
          <p:cNvPr id="5" name="Rectangle 5"/>
          <p:cNvSpPr/>
          <p:nvPr/>
        </p:nvSpPr>
        <p:spPr>
          <a:xfrm>
            <a:off x="4953000" y="838200"/>
            <a:ext cx="2286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5334000" cy="381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504851" y="1520190"/>
            <a:ext cx="1467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酒店 → 街区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09550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306604" y="2140268"/>
            <a:ext cx="625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洗衣房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39402" y="24107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布草、制服、客房服务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276225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208020" y="28070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地下诊所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16079" y="30775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医务延伸、隐私手术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342900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306604" y="3473768"/>
            <a:ext cx="625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夜宵街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42915" y="3744278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24h餐饮、秘密聚会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409575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208020" y="414051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第二附楼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5408" y="4411028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扩展客房、VIP隔离区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52500" y="476250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109436" y="48072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后场服务点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39402" y="50777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仓库、车队、保安基地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190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78571" y="15201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核心逻辑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58150" y="19335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附属设施反哺主楼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44852" y="228314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内城的职责：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51934" y="25212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把规则从楼内输出到街区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3429000"/>
            <a:ext cx="5334000" cy="1714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3429000"/>
            <a:ext cx="53340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002834" y="3648075"/>
            <a:ext cx="19013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为什么是"长出来"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74330" y="4061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不是先有街区，再塞进来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86700" y="429958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而是酒店运转需要附属服务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37220" y="45377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自然长出配套街区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87641" y="3429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外层：规则权的放大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0" y="1143000"/>
            <a:ext cx="8763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714500" y="1143000"/>
            <a:ext cx="8763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26847" y="1329690"/>
            <a:ext cx="4738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真正的资源是中立权、停火权、交易权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3940" y="16325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不是打地盘，是争夺规则制定权</a:t>
            </a:r>
          </a:p>
        </p:txBody>
      </p:sp>
      <p:sp>
        <p:nvSpPr>
          <p:cNvPr id="10" name="Ellipse 10"/>
          <p:cNvSpPr/>
          <p:nvPr/>
        </p:nvSpPr>
        <p:spPr>
          <a:xfrm>
            <a:off x="5619750" y="2952750"/>
            <a:ext cx="952500" cy="952500"/>
          </a:xfrm>
          <a:prstGeom prst="ellipse">
            <a:avLst/>
          </a:prstGeom>
          <a:solidFill>
            <a:srgbClr val="1A1A1A"/>
          </a:solidFill>
          <a:ln w="28575">
            <a:solidFill>
              <a:srgbClr val="C9A22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929312" y="326802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你的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29312" y="345852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酒店</a:t>
            </a:r>
          </a:p>
        </p:txBody>
      </p:sp>
      <p:sp>
        <p:nvSpPr>
          <p:cNvPr id="13" name="Ellipse 13"/>
          <p:cNvSpPr/>
          <p:nvPr/>
        </p:nvSpPr>
        <p:spPr>
          <a:xfrm>
            <a:off x="2857500" y="2095500"/>
            <a:ext cx="762000" cy="7620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9A227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95625" y="24269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中立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59478" y="256984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酒店A</a:t>
            </a:r>
          </a:p>
        </p:txBody>
      </p:sp>
      <p:sp>
        <p:nvSpPr>
          <p:cNvPr id="16" name="Ellipse 16"/>
          <p:cNvSpPr/>
          <p:nvPr/>
        </p:nvSpPr>
        <p:spPr>
          <a:xfrm>
            <a:off x="8572500" y="2095500"/>
            <a:ext cx="762000" cy="7620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9A22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810625" y="24269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中立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74478" y="256984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酒店B</a:t>
            </a:r>
          </a:p>
        </p:txBody>
      </p:sp>
      <p:sp>
        <p:nvSpPr>
          <p:cNvPr id="19" name="Ellipse 19"/>
          <p:cNvSpPr/>
          <p:nvPr/>
        </p:nvSpPr>
        <p:spPr>
          <a:xfrm>
            <a:off x="2857500" y="4000500"/>
            <a:ext cx="762000" cy="7620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722F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095625" y="43319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敌对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59478" y="447484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势力C</a:t>
            </a:r>
          </a:p>
        </p:txBody>
      </p:sp>
      <p:sp>
        <p:nvSpPr>
          <p:cNvPr id="22" name="Ellipse 22"/>
          <p:cNvSpPr/>
          <p:nvPr/>
        </p:nvSpPr>
        <p:spPr>
          <a:xfrm>
            <a:off x="8572500" y="4000500"/>
            <a:ext cx="762000" cy="7620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9A22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810625" y="433197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中立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74478" y="4474845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酒店D</a:t>
            </a:r>
          </a:p>
        </p:txBody>
      </p:sp>
      <p:sp>
        <p:nvSpPr>
          <p:cNvPr id="25" name="Line 25"/>
          <p:cNvSpPr/>
          <p:nvPr/>
        </p:nvSpPr>
        <p:spPr>
          <a:xfrm>
            <a:off x="3619500" y="257175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0" y="0"/>
                </a:moveTo>
                <a:lnTo>
                  <a:pt x="2000250" y="666750"/>
                </a:lnTo>
              </a:path>
            </a:pathLst>
          </a:custGeom>
          <a:noFill/>
          <a:ln w="19050">
            <a:solidFill>
              <a:srgbClr val="C9A227"/>
            </a:solidFill>
            <a:custDash>
              <a:ds d="250000" sp="250000"/>
            </a:custDash>
          </a:ln>
        </p:spPr>
      </p:sp>
      <p:sp>
        <p:nvSpPr>
          <p:cNvPr id="26" name="Line 26"/>
          <p:cNvSpPr/>
          <p:nvPr/>
        </p:nvSpPr>
        <p:spPr>
          <a:xfrm>
            <a:off x="6572250" y="257175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2000250" y="0"/>
                </a:moveTo>
                <a:lnTo>
                  <a:pt x="0" y="666750"/>
                </a:lnTo>
              </a:path>
            </a:pathLst>
          </a:custGeom>
          <a:noFill/>
          <a:ln w="19050">
            <a:solidFill>
              <a:srgbClr val="C9A227"/>
            </a:solidFill>
            <a:custDash>
              <a:ds d="250000" sp="250000"/>
            </a:custDash>
          </a:ln>
        </p:spPr>
      </p:sp>
      <p:sp>
        <p:nvSpPr>
          <p:cNvPr id="27" name="Line 27"/>
          <p:cNvSpPr/>
          <p:nvPr/>
        </p:nvSpPr>
        <p:spPr>
          <a:xfrm>
            <a:off x="3619500" y="361950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0" y="666750"/>
                </a:moveTo>
                <a:lnTo>
                  <a:pt x="2000250" y="0"/>
                </a:lnTo>
              </a:path>
            </a:pathLst>
          </a:custGeom>
          <a:noFill/>
          <a:ln w="19050">
            <a:solidFill>
              <a:srgbClr val="722F37"/>
            </a:solidFill>
            <a:custDash>
              <a:ds d="250000" sp="250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6572250" y="361950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2000250" y="6667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9A227"/>
            </a:solidFill>
            <a:custDash>
              <a:ds d="250000" sp="250000"/>
            </a:custDash>
          </a:ln>
        </p:spPr>
      </p:sp>
      <p:sp>
        <p:nvSpPr>
          <p:cNvPr id="29" name="Rectangle 29"/>
          <p:cNvSpPr/>
          <p:nvPr/>
        </p:nvSpPr>
        <p:spPr>
          <a:xfrm>
            <a:off x="1714500" y="5143500"/>
            <a:ext cx="8763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1714500" y="5143500"/>
            <a:ext cx="8763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679525" y="5314950"/>
            <a:ext cx="28329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酒店节点 = 城市秩序税入口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19397" y="5633085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外层必须延续"规则经营"主题，不是玩法切换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447699" y="34290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午夜议会邀请函</a:t>
            </a:r>
          </a:p>
        </p:txBody>
      </p:sp>
      <p:sp>
        <p:nvSpPr>
          <p:cNvPr id="5" name="Rectangle 5"/>
          <p:cNvSpPr/>
          <p:nvPr/>
        </p:nvSpPr>
        <p:spPr>
          <a:xfrm>
            <a:off x="4953000" y="838200"/>
            <a:ext cx="2286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238500" y="1333500"/>
            <a:ext cx="5715000" cy="381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238500" y="1333500"/>
            <a:ext cx="5715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333750" y="1428750"/>
            <a:ext cx="381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3333750" y="1428750"/>
            <a:ext cx="19050" cy="3810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667750" y="1428750"/>
            <a:ext cx="381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9029700" y="1428750"/>
            <a:ext cx="19050" cy="3810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333750" y="5124450"/>
            <a:ext cx="381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333750" y="4762500"/>
            <a:ext cx="19050" cy="3810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667750" y="5124450"/>
            <a:ext cx="381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029700" y="4762500"/>
            <a:ext cx="19050" cy="3810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5524500" y="1714500"/>
            <a:ext cx="1143000" cy="1143000"/>
          </a:xfrm>
          <a:prstGeom prst="ellipse">
            <a:avLst/>
          </a:prstGeom>
          <a:noFill/>
          <a:ln w="28575">
            <a:solidFill>
              <a:srgbClr val="C9A22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956149" y="2125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THE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28691" y="22993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CONTINENTAL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8965" y="2916555"/>
            <a:ext cx="26940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MIDNIGHT COUNCIL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10188" y="33623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午夜议会邀请函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91601" y="38547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尊敬的酒店管理者：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66310" y="41567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您已证明自己守护了一栋楼的秩序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78680" y="43948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现在，是时候参与整座城的规矩制定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9434" y="47748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你守住了一栋楼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77308" y="5013008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接下来，你要守的是整座城的规矩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667000" y="5524500"/>
            <a:ext cx="68580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2667000" y="5524500"/>
            <a:ext cx="685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718399" y="5759768"/>
            <a:ext cx="27552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Day 2 末是最合适的情绪抬升点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37785" y="3429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竞品对标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2667000" cy="3619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3342" y="1457325"/>
            <a:ext cx="17633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The Continental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077" y="17916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视觉锚点 + 规则参照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095500"/>
            <a:ext cx="2667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89495" y="22517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酒店视觉体系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3102" y="2537460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"不得开火"规则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495" y="28232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危险客人原型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495" y="31089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中立网络概念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8255" y="36966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贡献：题材成立性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429000" y="1238250"/>
            <a:ext cx="2667000" cy="3619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429000" y="123825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794581" y="1457325"/>
            <a:ext cx="19358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My Perfect Hotel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47577" y="17916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核心循环 + 经营节奏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429000" y="2095500"/>
            <a:ext cx="2667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146994" y="22517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房间管理循环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59364" y="25374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功能区解锁节奏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46994" y="28232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客人入住体验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46994" y="31089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经营反馈系统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12431" y="3696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贡献：玩法循环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238250"/>
            <a:ext cx="2667000" cy="3619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123825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67096" y="1457325"/>
            <a:ext cx="17058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Fallout Shelter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28401" y="17916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功能区管理 + 规划深度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2095500"/>
            <a:ext cx="2667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004494" y="22517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多功能区协同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04494" y="25374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资源分配策略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04494" y="28232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基地扩张逻辑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9754" y="3108960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住民管理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069931" y="3696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贡献：系统深度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144000" y="1238250"/>
            <a:ext cx="2667000" cy="3619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9144000" y="1238250"/>
            <a:ext cx="2667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48561" y="1457325"/>
            <a:ext cx="22578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Hotel Empire Tycoon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39254" y="17916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经营规模 + 全球化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0" y="2095500"/>
            <a:ext cx="2667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949625" y="225171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多酒店管理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61995" y="25374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品牌升级路线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861995" y="28232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服务链复杂度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14572" y="3108960"/>
            <a:ext cx="11258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✓ VIP客户服务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4108" y="3696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贡献：规模感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714500" y="5143500"/>
            <a:ext cx="8763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1714500" y="5143500"/>
            <a:ext cx="8763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341778" y="5346382"/>
            <a:ext cx="35084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差异化：规则经营 vs 普通经营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90010" y="5633085"/>
            <a:ext cx="4411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我们的独特价值：不是管理酒店，是管理危险世界的秩序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07756" y="3429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风险与边界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5334000" cy="266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3340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028296" y="1441132"/>
            <a:ext cx="24204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P0 风险（必须解决）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1905000"/>
            <a:ext cx="190500" cy="190500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50305" y="1949768"/>
            <a:ext cx="19763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前15分钟规则事件落地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8288" y="2220278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如果没有真实事件，题材会被误读成普通酒店经营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2571750"/>
            <a:ext cx="190500" cy="190500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29852" y="2616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慢热内容密度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6144" y="2887028"/>
            <a:ext cx="3024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4小时慢热必须有足够的节奏变化，否则拖沓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3238500"/>
            <a:ext cx="190500" cy="190500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531269" y="32832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外层不偏离题材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0809" y="3553778"/>
            <a:ext cx="30553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外层SLG必须延续"规则升级"而非变成打地盘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238250"/>
            <a:ext cx="5334000" cy="2667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238250"/>
            <a:ext cx="533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774925" y="1441132"/>
            <a:ext cx="2357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P1 风险（需要关注）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190500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43436" y="19497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功能区平衡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71173" y="2220278"/>
            <a:ext cx="2564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危险功能区（医务/装备）不能太鸡肋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67500" y="257175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44852" y="2616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住客身份认同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90021" y="28870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危险客人必须有足够的性格和故事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667500" y="3238500"/>
            <a:ext cx="190500" cy="1905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44852" y="32832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昼夜节奏差异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36348" y="3553778"/>
            <a:ext cx="24343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夜 vs 昼的视觉和玩法差异需要明确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91000"/>
            <a:ext cx="110490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4191000"/>
            <a:ext cx="11049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68982" y="4393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边界条件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03929" y="4728210"/>
            <a:ext cx="4184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预算：中型团队 · 时间：6个月MVP · 技术：移动优先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45948" y="5030152"/>
            <a:ext cx="35001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���心体验必须在移动端完整还原，不做功能阉割版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37785" y="3429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验证路径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838200"/>
            <a:ext cx="1524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3619500"/>
            <a:ext cx="10668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562100" y="3467100"/>
            <a:ext cx="304800" cy="3048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4000500"/>
            <a:ext cx="152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52500" y="4000500"/>
            <a:ext cx="152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39977" y="4156710"/>
            <a:ext cx="7490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Week 1-2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640" y="4426268"/>
            <a:ext cx="11877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核心循环MVP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5583" y="4696778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房间管理+客人入住</a:t>
            </a:r>
          </a:p>
        </p:txBody>
      </p:sp>
      <p:sp>
        <p:nvSpPr>
          <p:cNvPr id="13" name="Ellipse 13"/>
          <p:cNvSpPr/>
          <p:nvPr/>
        </p:nvSpPr>
        <p:spPr>
          <a:xfrm>
            <a:off x="3467100" y="3467100"/>
            <a:ext cx="304800" cy="3048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857500" y="4000500"/>
            <a:ext cx="152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857500" y="4000500"/>
            <a:ext cx="152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223070" y="415671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Week 3-4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0852" y="44262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规则事件样例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50583" y="4696778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敌对贵客+秩序处理</a:t>
            </a:r>
          </a:p>
        </p:txBody>
      </p:sp>
      <p:sp>
        <p:nvSpPr>
          <p:cNvPr id="19" name="Ellipse 19"/>
          <p:cNvSpPr/>
          <p:nvPr/>
        </p:nvSpPr>
        <p:spPr>
          <a:xfrm>
            <a:off x="5372100" y="3467100"/>
            <a:ext cx="304800" cy="3048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762500" y="4000500"/>
            <a:ext cx="152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762500" y="4000500"/>
            <a:ext cx="152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128070" y="415671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Week 5-6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75003" y="4426268"/>
            <a:ext cx="10989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功能区Demo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13411" y="469677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医务间+装备室+泳池</a:t>
            </a:r>
          </a:p>
        </p:txBody>
      </p:sp>
      <p:sp>
        <p:nvSpPr>
          <p:cNvPr id="25" name="Ellipse 25"/>
          <p:cNvSpPr/>
          <p:nvPr/>
        </p:nvSpPr>
        <p:spPr>
          <a:xfrm>
            <a:off x="7277100" y="3467100"/>
            <a:ext cx="304800" cy="3048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667500" y="4000500"/>
            <a:ext cx="152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667500" y="4000500"/>
            <a:ext cx="1524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033070" y="415671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Week 7-8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18020" y="44262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街区过渡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60583" y="4696778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内城扩张+附属设施</a:t>
            </a:r>
          </a:p>
        </p:txBody>
      </p:sp>
      <p:sp>
        <p:nvSpPr>
          <p:cNvPr id="31" name="Ellipse 31"/>
          <p:cNvSpPr/>
          <p:nvPr/>
        </p:nvSpPr>
        <p:spPr>
          <a:xfrm>
            <a:off x="9182100" y="3467100"/>
            <a:ext cx="304800" cy="304800"/>
          </a:xfrm>
          <a:prstGeom prst="ellipse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572500" y="4000500"/>
            <a:ext cx="1524000" cy="9525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572500" y="4000500"/>
            <a:ext cx="1524000" cy="28575"/>
          </a:xfrm>
          <a:prstGeom prst="rect">
            <a:avLst/>
          </a:prstGeom>
          <a:solidFill>
            <a:srgbClr val="722F3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911780" y="4156710"/>
            <a:ext cx="8454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22F37"/>
                </a:solidFill>
                <a:latin typeface="Arial"/>
                <a:ea typeface="Microsoft YaHei"/>
                <a:cs typeface="Arial"/>
              </a:rPr>
              <a:t>Week 9-10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23020" y="44262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外层预告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65583" y="4696778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午夜议会+城市网络</a:t>
            </a:r>
          </a:p>
        </p:txBody>
      </p:sp>
      <p:sp>
        <p:nvSpPr>
          <p:cNvPr id="37" name="Rectangle 37"/>
          <p:cNvSpPr/>
          <p:nvPr/>
        </p:nvSpPr>
        <p:spPr>
          <a:xfrm>
            <a:off x="2667000" y="5334000"/>
            <a:ext cx="6858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667000" y="5334000"/>
            <a:ext cx="685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189434" y="548925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核心验证里程碑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35374" y="5823585"/>
            <a:ext cx="39212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Week 4：第一次规则事件完成度 &gt; 80% = 题材成立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9A227">
                  <a:alpha val="8000"/>
                </a:srgbClr>
              </a:gs>
              <a:gs pos="100000">
                <a:srgbClr val="C9A22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87641" y="3429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大陆酒店的核心价值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0" y="838200"/>
            <a:ext cx="3048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3429000" cy="304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429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59252" y="1615440"/>
            <a:ext cx="14534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30秒记忆点</a:t>
            </a:r>
          </a:p>
        </p:txBody>
      </p:sp>
      <p:sp>
        <p:nvSpPr>
          <p:cNvPr id="9" name="Rectangle 9"/>
          <p:cNvSpPr/>
          <p:nvPr/>
        </p:nvSpPr>
        <p:spPr>
          <a:xfrm>
            <a:off x="2286000" y="195262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60358" y="2087880"/>
            <a:ext cx="20512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"酒店内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323" y="2659380"/>
            <a:ext cx="26033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不得开火"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090" y="3680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一句话说清楚差异化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333500"/>
            <a:ext cx="3429000" cy="304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381500" y="1333500"/>
            <a:ext cx="3429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245036" y="16154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三层放大自然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0" y="195262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176814" y="233076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楼内秩序 → 街区秩序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03556" y="2664142"/>
            <a:ext cx="1384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→ 城市中立网络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29200" y="3680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同一套规则，三次尺度放大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91500" y="1333500"/>
            <a:ext cx="3429000" cy="304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91500" y="1333500"/>
            <a:ext cx="34290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331071" y="1615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视觉高级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906000" y="1952625"/>
            <a:ext cx="571500" cy="19050"/>
          </a:xfrm>
          <a:prstGeom prst="rect">
            <a:avLst/>
          </a:prstGeom>
          <a:solidFill>
            <a:srgbClr val="C9A227">
              <a:alpha val="5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888230" y="2330768"/>
            <a:ext cx="2035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黑金克制 · 危险高级感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72026" y="2664142"/>
            <a:ext cx="18679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秩序 · 克制 · 不粗暴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05697" y="368046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0A0"/>
                </a:solidFill>
                <a:latin typeface="Arial"/>
                <a:ea typeface="Microsoft YaHei"/>
                <a:cs typeface="Arial"/>
              </a:rPr>
              <a:t>成人世界的"危险优雅"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714500" y="4762500"/>
            <a:ext cx="8763000" cy="76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714500" y="4762500"/>
            <a:ext cx="87630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30985" y="49491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9A227"/>
                </a:solidFill>
                <a:latin typeface="Arial"/>
                <a:ea typeface="Microsoft YaHei"/>
                <a:cs typeface="Arial"/>
              </a:rPr>
              <a:t>它不是普通酒店经营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94434" y="52835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E8E8"/>
                </a:solidFill>
                <a:latin typeface="Arial"/>
                <a:ea typeface="Microsoft YaHei"/>
                <a:cs typeface="Arial"/>
              </a:rPr>
              <a:t>它是黑夜世界的中立圣殿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95446" y="6570345"/>
            <a:ext cx="20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B方案 · 大陆酒店 · 2026立项评审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